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46120"/>
            <a:ext cx="2011680" cy="91440"/>
          </a:xfrm>
          <a:prstGeom prst="rect">
            <a:avLst/>
          </a:prstGeom>
          <a:solidFill>
            <a:srgbClr val="E08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C9D6E8"/>
                </a:solidFill>
                <a:latin typeface="Calibri"/>
              </a:rPr>
              <a:t>Ma’lumotlar tuzilmasi va algoritmlar fani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698480" cy="192024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Calibri"/>
              </a:rPr>
              <a:t>8-MAVZU. Samarali saralash algoritmlarini dasturlash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56616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>
                <a:solidFill>
                  <a:srgbClr val="F3C17A"/>
                </a:solidFill>
                <a:latin typeface="Calibri"/>
              </a:rPr>
              <a:t>Amaliy mashg‘ulot · 2 soat (80 daqiqa)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76072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C9D6E8"/>
                </a:solidFill>
                <a:latin typeface="Calibri"/>
              </a:rPr>
              <a:t>Yo‘nalish: 50320203 – Kutubxonashunoslik va bibliografiya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64008"/>
          </a:xfrm>
          <a:prstGeom prst="rect">
            <a:avLst/>
          </a:prstGeom>
          <a:solidFill>
            <a:srgbClr val="E08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12471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Mavzu rejasi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B6778"/>
                </a:solidFill>
                <a:latin typeface="Calibri"/>
              </a:rPr>
              <a:t>2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8813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>
                <a:solidFill>
                  <a:srgbClr val="E08E2B"/>
                </a:solidFill>
                <a:latin typeface="Calibri"/>
              </a:rPr>
              <a:t>■  </a:t>
            </a:r>
            <a:r>
              <a:rPr sz="2600">
                <a:solidFill>
                  <a:srgbClr val="222B38"/>
                </a:solidFill>
                <a:latin typeface="Calibri"/>
              </a:rPr>
              <a:t>1. Bo‘lib tashla va hukmronlik qil tamoyilini amaliyotda qo‘llashga tayyorgarlik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E08E2B"/>
                </a:solidFill>
                <a:latin typeface="Calibri"/>
              </a:rPr>
              <a:t>■  </a:t>
            </a:r>
            <a:r>
              <a:rPr sz="2600">
                <a:solidFill>
                  <a:srgbClr val="222B38"/>
                </a:solidFill>
                <a:latin typeface="Calibri"/>
              </a:rPr>
              <a:t>2. Birlashtirish orqali saralashni dasturlash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E08E2B"/>
                </a:solidFill>
                <a:latin typeface="Calibri"/>
              </a:rPr>
              <a:t>■  </a:t>
            </a:r>
            <a:r>
              <a:rPr sz="2600">
                <a:solidFill>
                  <a:srgbClr val="222B38"/>
                </a:solidFill>
                <a:latin typeface="Calibri"/>
              </a:rPr>
              <a:t>3. Tez saralash va uyum orqali saralashni dasturlash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E08E2B"/>
                </a:solidFill>
                <a:latin typeface="Calibri"/>
              </a:rPr>
              <a:t>■  </a:t>
            </a:r>
            <a:r>
              <a:rPr sz="2600">
                <a:solidFill>
                  <a:srgbClr val="222B38"/>
                </a:solidFill>
                <a:latin typeface="Calibri"/>
              </a:rPr>
              <a:t>4. Samarali va oddiy algoritmlarni taqqoslash, mini-loyiha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64008"/>
          </a:xfrm>
          <a:prstGeom prst="rect">
            <a:avLst/>
          </a:prstGeom>
          <a:solidFill>
            <a:srgbClr val="E08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12471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1. Bo‘lib tashla va hukmronlik qil tamoyilini amaliyotda qo‘llashga tayyorgarlik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B6778"/>
                </a:solidFill>
                <a:latin typeface="Calibri"/>
              </a:rPr>
              <a:t>3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8813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Oldingi mashg‘ulotda talabalar O(n²) murakkablikka ega oddiy saralash algoritmlarini dasturladilar…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Samarali saralash algoritmlarining umumiy g‘oyasi «bo‘lib tashla va hukmronlik qil» tamoyilidir.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Mashg‘ulotda rekursiya keng qo‘llaniladi, rekursiya mavzusi esa keyinroq batafsil o‘rganiladi.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Tayyorgarlik bosqichida avvalgi mashg‘ulotdagi tekshiruv funksiyalari qayta ishlatiladi.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64008"/>
          </a:xfrm>
          <a:prstGeom prst="rect">
            <a:avLst/>
          </a:prstGeom>
          <a:solidFill>
            <a:srgbClr val="E08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12471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1. Bo‘lib tashla va hukmronlik qil tamoyilini amaliyotda qo‘llashga tayyorgarlik (davomi)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B6778"/>
                </a:solidFill>
                <a:latin typeface="Calibri"/>
              </a:rPr>
              <a:t>4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8813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Ma’lumotlarni tayyorlash uchun uchta ro‘yxat yaratiladi: tasodifiy sonlardan iborat, saralangan va teskari tartibli.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Bundan tashqari, xotira masalalariga ham e’tibor beriladi.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Mashg‘ulotni baholash mezonlari ham oldindan e’lon qilinadi.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Talabalar ko‘pincha rekursiv algoritmlarni yozishda qiynaladilar, chunki ularning ishlash tartibini tasavvur qilish qiyin.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Birlashtirish orqali saralashning rekursiya chuqurligi log n bo‘lgani uchun u bilan muammo bo‘lmaydi.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64008"/>
          </a:xfrm>
          <a:prstGeom prst="rect">
            <a:avLst/>
          </a:prstGeom>
          <a:solidFill>
            <a:srgbClr val="E08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12471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2. Birlashtirish orqali saralashni dasturlash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B6778"/>
                </a:solidFill>
                <a:latin typeface="Calibri"/>
              </a:rPr>
              <a:t>5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8813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Birlashtirish orqali saralash ikkita qismdan iborat: ro‘yxatni bo‘lish va ikkita saralangan ro‘yxatni birlashtirish.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Birlashtirish funksiyasining murakkabligi O(n + m), bu yerda n va m ikki ro‘yxatning uzunliklari.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Endi birlashtirish orqali saralashning asosiy funksiyasini yozamiz.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Tekshirish funksiyasi joyida o‘zgartiruvchi funksiyalar bilan ishlaydi.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64008"/>
          </a:xfrm>
          <a:prstGeom prst="rect">
            <a:avLst/>
          </a:prstGeom>
          <a:solidFill>
            <a:srgbClr val="E08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12471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2. Birlashtirish orqali saralashni dasturlash — namuna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B6778"/>
                </a:solidFill>
                <a:latin typeface="Calibri"/>
              </a:rPr>
              <a:t>6 /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600200"/>
            <a:ext cx="10881360" cy="4572000"/>
          </a:xfrm>
          <a:prstGeom prst="rect">
            <a:avLst/>
          </a:prstGeom>
          <a:solidFill>
            <a:srgbClr val="F1F4F8"/>
          </a:solidFill>
          <a:ln>
            <a:solidFill>
              <a:srgbClr val="D0D7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228600" tIns="137160"/>
          <a:lstStyle/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def birlashtir(chap, ong):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natija = []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i = j = 0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while i &lt; len(chap) and j &lt; len(ong):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    if chap[i] &lt;= ong[j]: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        natija.append(chap[i])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        i += 1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    else: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        natija.append(ong[j])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        j += 1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natija.extend(chap[i:])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natija.extend(ong[j:])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return natija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print(birlashtir([1, 4, 9], [2, 3, 10, 11]))   # [1, 2, 3, 4, 9, 10, 11]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64008"/>
          </a:xfrm>
          <a:prstGeom prst="rect">
            <a:avLst/>
          </a:prstGeom>
          <a:solidFill>
            <a:srgbClr val="E08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12471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3. Tez saralash va uyum orqali saralashni dasturlash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B6778"/>
                </a:solidFill>
                <a:latin typeface="Calibri"/>
              </a:rPr>
              <a:t>7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8813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Tez saralash tayanch elementni tanlash va ro‘yxatni uni atrofida bo‘lishga asoslanadi.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Joyida ishlaydigan variant Xoar bo‘lish sxemasiga asoslanadi.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Bu holda bo‘lish juda nomutanosib bo‘ladi: bir qism bo‘sh, ikkinchisi deyarli butun ro‘yxat.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Uyum orqali saralash uchun avval uyum tuzilmasi bilan tanishiladi.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64008"/>
          </a:xfrm>
          <a:prstGeom prst="rect">
            <a:avLst/>
          </a:prstGeom>
          <a:solidFill>
            <a:srgbClr val="E08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12471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3. Tez saralash va uyum orqali saralashni dasturlash — namuna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B6778"/>
                </a:solidFill>
                <a:latin typeface="Calibri"/>
              </a:rPr>
              <a:t>8 /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600200"/>
            <a:ext cx="10881360" cy="4572000"/>
          </a:xfrm>
          <a:prstGeom prst="rect">
            <a:avLst/>
          </a:prstGeom>
          <a:solidFill>
            <a:srgbClr val="F1F4F8"/>
          </a:solidFill>
          <a:ln>
            <a:solidFill>
              <a:srgbClr val="D0D7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228600" tIns="137160"/>
          <a:lstStyle/>
          <a:p>
            <a:pPr algn="l"/>
            <a:r>
              <a:rPr sz="1800">
                <a:solidFill>
                  <a:srgbClr val="222B38"/>
                </a:solidFill>
                <a:latin typeface="Courier New"/>
              </a:rPr>
              <a:t>def tez_saralash(a):</a:t>
            </a:r>
          </a:p>
          <a:p>
            <a:pPr algn="l"/>
            <a:r>
              <a:rPr sz="1800">
                <a:solidFill>
                  <a:srgbClr val="222B38"/>
                </a:solidFill>
                <a:latin typeface="Courier New"/>
              </a:rPr>
              <a:t>    if len(a) &lt;= 1:</a:t>
            </a:r>
          </a:p>
          <a:p>
            <a:pPr algn="l"/>
            <a:r>
              <a:rPr sz="1800">
                <a:solidFill>
                  <a:srgbClr val="222B38"/>
                </a:solidFill>
                <a:latin typeface="Courier New"/>
              </a:rPr>
              <a:t>        return a</a:t>
            </a:r>
          </a:p>
          <a:p>
            <a:pPr algn="l"/>
            <a:r>
              <a:rPr sz="1800">
                <a:solidFill>
                  <a:srgbClr val="222B38"/>
                </a:solidFill>
                <a:latin typeface="Courier New"/>
              </a:rPr>
              <a:t>    tayanch = a[len(a) // 2]</a:t>
            </a:r>
          </a:p>
          <a:p>
            <a:pPr algn="l"/>
            <a:r>
              <a:rPr sz="1800">
                <a:solidFill>
                  <a:srgbClr val="222B38"/>
                </a:solidFill>
                <a:latin typeface="Courier New"/>
              </a:rPr>
              <a:t>    kichik = [x for x in a if x &lt; tayanch]</a:t>
            </a:r>
          </a:p>
          <a:p>
            <a:pPr algn="l"/>
            <a:r>
              <a:rPr sz="1800">
                <a:solidFill>
                  <a:srgbClr val="222B38"/>
                </a:solidFill>
                <a:latin typeface="Courier New"/>
              </a:rPr>
              <a:t>    teng = [x for x in a if x == tayanch]</a:t>
            </a:r>
          </a:p>
          <a:p>
            <a:pPr algn="l"/>
            <a:r>
              <a:rPr sz="1800">
                <a:solidFill>
                  <a:srgbClr val="222B38"/>
                </a:solidFill>
                <a:latin typeface="Courier New"/>
              </a:rPr>
              <a:t>    katta = [x for x in a if x &gt; tayanch]</a:t>
            </a:r>
          </a:p>
          <a:p>
            <a:pPr algn="l"/>
            <a:r>
              <a:rPr sz="1800">
                <a:solidFill>
                  <a:srgbClr val="222B38"/>
                </a:solidFill>
                <a:latin typeface="Courier New"/>
              </a:rPr>
              <a:t>    return tez_saralash(kichik) + teng + tez_saralash(katta)</a:t>
            </a:r>
          </a:p>
          <a:p>
            <a:pPr algn="l"/>
            <a:r>
              <a:rPr sz="1800">
                <a:solidFill>
                  <a:srgbClr val="222B38"/>
                </a:solidFill>
                <a:latin typeface="Courier New"/>
              </a:rPr>
              <a:t> </a:t>
            </a:r>
          </a:p>
          <a:p>
            <a:pPr algn="l"/>
            <a:r>
              <a:rPr sz="1800">
                <a:solidFill>
                  <a:srgbClr val="222B38"/>
                </a:solidFill>
                <a:latin typeface="Courier New"/>
              </a:rPr>
              <a:t>print(tez_saralash([10, 7, 8, 9, 1, 5, 3, 7]))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64008"/>
          </a:xfrm>
          <a:prstGeom prst="rect">
            <a:avLst/>
          </a:prstGeom>
          <a:solidFill>
            <a:srgbClr val="E08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12471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4. Samarali va oddiy algoritmlarni taqqoslash, mini-loyiha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B6778"/>
                </a:solidFill>
                <a:latin typeface="Calibri"/>
              </a:rPr>
              <a:t>9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8813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Barcha algoritmlar yozilgach, ularni bir-biri bilan taqqoslash vaqti keldi.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Natijalarni tahlil qilishda talabalar quyidagilarni aniqlaydilar.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Mashg‘ulot xulosasida o‘qituvchi quyidagi muhim fikrlarni takrorlaydi.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Talaba natijalarini qisqa hisobot shaklida topshiradi.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Samarali saralash algoritmlarini o‘rganish natijasida talabalar katta ma’lumotlar bilan ishlash uchun to‘g‘ri vositalarni tanlashni o‘rganadilar.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64008"/>
          </a:xfrm>
          <a:prstGeom prst="rect">
            <a:avLst/>
          </a:prstGeom>
          <a:solidFill>
            <a:srgbClr val="E08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12471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Xulosa va nazorat savollari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B6778"/>
                </a:solidFill>
                <a:latin typeface="Calibri"/>
              </a:rPr>
              <a:t>10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8813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400">
                <a:solidFill>
                  <a:srgbClr val="E08E2B"/>
                </a:solidFill>
                <a:latin typeface="Calibri"/>
              </a:rPr>
              <a:t>■  </a:t>
            </a:r>
            <a:r>
              <a:rPr sz="2200">
                <a:solidFill>
                  <a:srgbClr val="222B38"/>
                </a:solidFill>
                <a:latin typeface="Calibri"/>
              </a:rPr>
              <a:t>«Bo‘lib tashla va hukmronlik qil» tamoyilini tushuntiring.</a:t>
            </a:r>
          </a:p>
          <a:p>
            <a:pPr>
              <a:spcAft>
                <a:spcPts val="1400"/>
              </a:spcAft>
            </a:pPr>
            <a:r>
              <a:rPr sz="1400">
                <a:solidFill>
                  <a:srgbClr val="E08E2B"/>
                </a:solidFill>
                <a:latin typeface="Calibri"/>
              </a:rPr>
              <a:t>■  </a:t>
            </a:r>
            <a:r>
              <a:rPr sz="2200">
                <a:solidFill>
                  <a:srgbClr val="222B38"/>
                </a:solidFill>
                <a:latin typeface="Calibri"/>
              </a:rPr>
              <a:t>Birlashtirish funksiyasida teng belgisi nima uchun muhim?</a:t>
            </a:r>
          </a:p>
          <a:p>
            <a:pPr>
              <a:spcAft>
                <a:spcPts val="1400"/>
              </a:spcAft>
            </a:pPr>
            <a:r>
              <a:rPr sz="1400">
                <a:solidFill>
                  <a:srgbClr val="E08E2B"/>
                </a:solidFill>
                <a:latin typeface="Calibri"/>
              </a:rPr>
              <a:t>■  </a:t>
            </a:r>
            <a:r>
              <a:rPr sz="2200">
                <a:solidFill>
                  <a:srgbClr val="222B38"/>
                </a:solidFill>
                <a:latin typeface="Calibri"/>
              </a:rPr>
              <a:t>Tez saralashda eng yomon holat qachon yuz beradi va uni qanday bartaraf etish mumkin?</a:t>
            </a:r>
          </a:p>
          <a:p>
            <a:pPr>
              <a:spcAft>
                <a:spcPts val="1400"/>
              </a:spcAft>
            </a:pPr>
            <a:r>
              <a:rPr sz="1400">
                <a:solidFill>
                  <a:srgbClr val="E08E2B"/>
                </a:solidFill>
                <a:latin typeface="Calibri"/>
              </a:rPr>
              <a:t>■  </a:t>
            </a:r>
            <a:r>
              <a:rPr sz="2200">
                <a:solidFill>
                  <a:srgbClr val="222B38"/>
                </a:solidFill>
                <a:latin typeface="Calibri"/>
              </a:rPr>
              <a:t>Uyum xossasi nima va uyum massivda qanday saqlanadi?</a:t>
            </a:r>
          </a:p>
          <a:p>
            <a:pPr>
              <a:spcAft>
                <a:spcPts val="1400"/>
              </a:spcAft>
            </a:pPr>
            <a:r>
              <a:rPr sz="1400">
                <a:solidFill>
                  <a:srgbClr val="E08E2B"/>
                </a:solidFill>
                <a:latin typeface="Calibri"/>
              </a:rPr>
              <a:t>■  </a:t>
            </a:r>
            <a:r>
              <a:rPr sz="2200">
                <a:solidFill>
                  <a:srgbClr val="222B38"/>
                </a:solidFill>
                <a:latin typeface="Calibri"/>
              </a:rPr>
              <a:t>Qaysi saralash algoritmlari barqaror, qaysilari joyida ishlaydi?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