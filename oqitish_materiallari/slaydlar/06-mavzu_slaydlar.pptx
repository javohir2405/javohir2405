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246120"/>
            <a:ext cx="2011680" cy="91440"/>
          </a:xfrm>
          <a:prstGeom prst="rect">
            <a:avLst/>
          </a:prstGeom>
          <a:solidFill>
            <a:srgbClr val="E08E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>
                <a:solidFill>
                  <a:srgbClr val="C9D6E8"/>
                </a:solidFill>
                <a:latin typeface="Calibri"/>
              </a:rPr>
              <a:t>Ma’lumotlar tuzilmasi va algoritmlar fani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698480" cy="1920240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pPr algn="l"/>
            <a:r>
              <a:rPr sz="3800" b="1">
                <a:solidFill>
                  <a:srgbClr val="FFFFFF"/>
                </a:solidFill>
                <a:latin typeface="Calibri"/>
              </a:rPr>
              <a:t>6-MAVZU. Qidirish algoritmlarini dasturlash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56616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0">
                <a:solidFill>
                  <a:srgbClr val="F3C17A"/>
                </a:solidFill>
                <a:latin typeface="Calibri"/>
              </a:rPr>
              <a:t>Amaliy mashg‘ulot · 2 soat (80 daqiqa)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760720"/>
            <a:ext cx="105156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C9D6E8"/>
                </a:solidFill>
                <a:latin typeface="Calibri"/>
              </a:rPr>
              <a:t>Yo‘nalish: 50320203 – Kutubxonashunoslik va bibliografiya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34440"/>
            <a:ext cx="12191695" cy="64008"/>
          </a:xfrm>
          <a:prstGeom prst="rect">
            <a:avLst/>
          </a:prstGeom>
          <a:solidFill>
            <a:srgbClr val="E08E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91440"/>
            <a:ext cx="11247120" cy="1051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libri"/>
              </a:rPr>
              <a:t>Mavzu rejasi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0" y="6400800"/>
            <a:ext cx="1371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0">
                <a:solidFill>
                  <a:srgbClr val="5B6778"/>
                </a:solidFill>
                <a:latin typeface="Calibri"/>
              </a:rPr>
              <a:t>2 /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00200"/>
            <a:ext cx="1088136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800">
                <a:solidFill>
                  <a:srgbClr val="E08E2B"/>
                </a:solidFill>
                <a:latin typeface="Calibri"/>
              </a:rPr>
              <a:t>■  </a:t>
            </a:r>
            <a:r>
              <a:rPr sz="2600">
                <a:solidFill>
                  <a:srgbClr val="222B38"/>
                </a:solidFill>
                <a:latin typeface="Calibri"/>
              </a:rPr>
              <a:t>1. Qidirish masalalarini yechishga tayyorgarlik</a:t>
            </a:r>
          </a:p>
          <a:p>
            <a:pPr>
              <a:spcAft>
                <a:spcPts val="1400"/>
              </a:spcAft>
            </a:pPr>
            <a:r>
              <a:rPr sz="1800">
                <a:solidFill>
                  <a:srgbClr val="E08E2B"/>
                </a:solidFill>
                <a:latin typeface="Calibri"/>
              </a:rPr>
              <a:t>■  </a:t>
            </a:r>
            <a:r>
              <a:rPr sz="2600">
                <a:solidFill>
                  <a:srgbClr val="222B38"/>
                </a:solidFill>
                <a:latin typeface="Calibri"/>
              </a:rPr>
              <a:t>2. Chiziqli qidirishning variantlarini dasturlash</a:t>
            </a:r>
          </a:p>
          <a:p>
            <a:pPr>
              <a:spcAft>
                <a:spcPts val="1400"/>
              </a:spcAft>
            </a:pPr>
            <a:r>
              <a:rPr sz="1800">
                <a:solidFill>
                  <a:srgbClr val="E08E2B"/>
                </a:solidFill>
                <a:latin typeface="Calibri"/>
              </a:rPr>
              <a:t>■  </a:t>
            </a:r>
            <a:r>
              <a:rPr sz="2600">
                <a:solidFill>
                  <a:srgbClr val="222B38"/>
                </a:solidFill>
                <a:latin typeface="Calibri"/>
              </a:rPr>
              <a:t>3. Binar qidirish va uning variantlarini dasturlash</a:t>
            </a:r>
          </a:p>
          <a:p>
            <a:pPr>
              <a:spcAft>
                <a:spcPts val="1400"/>
              </a:spcAft>
            </a:pPr>
            <a:r>
              <a:rPr sz="1800">
                <a:solidFill>
                  <a:srgbClr val="E08E2B"/>
                </a:solidFill>
                <a:latin typeface="Calibri"/>
              </a:rPr>
              <a:t>■  </a:t>
            </a:r>
            <a:r>
              <a:rPr sz="2600">
                <a:solidFill>
                  <a:srgbClr val="222B38"/>
                </a:solidFill>
                <a:latin typeface="Calibri"/>
              </a:rPr>
              <a:t>4. Qidirish algoritmlarini taqqoslash tajribasi va kutubxona katalogida qo‘llash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34440"/>
            <a:ext cx="12191695" cy="64008"/>
          </a:xfrm>
          <a:prstGeom prst="rect">
            <a:avLst/>
          </a:prstGeom>
          <a:solidFill>
            <a:srgbClr val="E08E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91440"/>
            <a:ext cx="11247120" cy="1051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libri"/>
              </a:rPr>
              <a:t>1. Qidirish masalalarini yechishga tayyorgarlik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0" y="6400800"/>
            <a:ext cx="1371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0">
                <a:solidFill>
                  <a:srgbClr val="5B6778"/>
                </a:solidFill>
                <a:latin typeface="Calibri"/>
              </a:rPr>
              <a:t>3 /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00200"/>
            <a:ext cx="1088136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600">
                <a:solidFill>
                  <a:srgbClr val="E08E2B"/>
                </a:solidFill>
                <a:latin typeface="Calibri"/>
              </a:rPr>
              <a:t>■  </a:t>
            </a:r>
            <a:r>
              <a:rPr sz="2400">
                <a:solidFill>
                  <a:srgbClr val="222B38"/>
                </a:solidFill>
                <a:latin typeface="Calibri"/>
              </a:rPr>
              <a:t>Ushbu amaliy mashg‘ulotda talabalar nazariy darsda o‘rganilgan qidirish algoritmlarini o‘zlari dasturlaydilar…</a:t>
            </a:r>
          </a:p>
          <a:p>
            <a:pPr>
              <a:spcAft>
                <a:spcPts val="1400"/>
              </a:spcAft>
            </a:pPr>
            <a:r>
              <a:rPr sz="1600">
                <a:solidFill>
                  <a:srgbClr val="E08E2B"/>
                </a:solidFill>
                <a:latin typeface="Calibri"/>
              </a:rPr>
              <a:t>■  </a:t>
            </a:r>
            <a:r>
              <a:rPr sz="2400">
                <a:solidFill>
                  <a:srgbClr val="222B38"/>
                </a:solidFill>
                <a:latin typeface="Calibri"/>
              </a:rPr>
              <a:t>Mashg‘ulot boshida o‘qituvchi oldingi mavzuni qisqacha takrorlatadi.</a:t>
            </a:r>
          </a:p>
          <a:p>
            <a:pPr>
              <a:spcAft>
                <a:spcPts val="1400"/>
              </a:spcAft>
            </a:pPr>
            <a:r>
              <a:rPr sz="1600">
                <a:solidFill>
                  <a:srgbClr val="E08E2B"/>
                </a:solidFill>
                <a:latin typeface="Calibri"/>
              </a:rPr>
              <a:t>■  </a:t>
            </a:r>
            <a:r>
              <a:rPr sz="2400">
                <a:solidFill>
                  <a:srgbClr val="222B38"/>
                </a:solidFill>
                <a:latin typeface="Calibri"/>
              </a:rPr>
              <a:t>Kutubxonaning bir qismi uchun inventar raqamlari ro‘yxati yaratiladi.</a:t>
            </a:r>
          </a:p>
          <a:p>
            <a:pPr>
              <a:spcAft>
                <a:spcPts val="1400"/>
              </a:spcAft>
            </a:pPr>
            <a:r>
              <a:rPr sz="1600">
                <a:solidFill>
                  <a:srgbClr val="E08E2B"/>
                </a:solidFill>
                <a:latin typeface="Calibri"/>
              </a:rPr>
              <a:t>■  </a:t>
            </a:r>
            <a:r>
              <a:rPr sz="2400">
                <a:solidFill>
                  <a:srgbClr val="222B38"/>
                </a:solidFill>
                <a:latin typeface="Calibri"/>
              </a:rPr>
              <a:t>Tasodifiy sonlar generatoriga seed qiymati berilishi muhim.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34440"/>
            <a:ext cx="12191695" cy="64008"/>
          </a:xfrm>
          <a:prstGeom prst="rect">
            <a:avLst/>
          </a:prstGeom>
          <a:solidFill>
            <a:srgbClr val="E08E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91440"/>
            <a:ext cx="11247120" cy="1051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1. Qidirish masalalarini yechishga tayyorgarlik — namuna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0" y="6400800"/>
            <a:ext cx="1371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0">
                <a:solidFill>
                  <a:srgbClr val="5B6778"/>
                </a:solidFill>
                <a:latin typeface="Calibri"/>
              </a:rPr>
              <a:t>4 / 10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600200"/>
            <a:ext cx="10881360" cy="4572000"/>
          </a:xfrm>
          <a:prstGeom prst="rect">
            <a:avLst/>
          </a:prstGeom>
          <a:solidFill>
            <a:srgbClr val="F1F4F8"/>
          </a:solidFill>
          <a:ln>
            <a:solidFill>
              <a:srgbClr val="D0D7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228600" tIns="137160"/>
          <a:lstStyle/>
          <a:p>
            <a:pPr algn="l"/>
            <a:r>
              <a:rPr sz="1800">
                <a:solidFill>
                  <a:srgbClr val="222B38"/>
                </a:solidFill>
                <a:latin typeface="Courier New"/>
              </a:rPr>
              <a:t>import random</a:t>
            </a:r>
          </a:p>
          <a:p>
            <a:pPr algn="l"/>
            <a:r>
              <a:rPr sz="1800">
                <a:solidFill>
                  <a:srgbClr val="222B38"/>
                </a:solidFill>
                <a:latin typeface="Courier New"/>
              </a:rPr>
              <a:t> </a:t>
            </a:r>
          </a:p>
          <a:p>
            <a:pPr algn="l"/>
            <a:r>
              <a:rPr sz="1800">
                <a:solidFill>
                  <a:srgbClr val="222B38"/>
                </a:solidFill>
                <a:latin typeface="Courier New"/>
              </a:rPr>
              <a:t>random.seed(2026)</a:t>
            </a:r>
          </a:p>
          <a:p>
            <a:pPr algn="l"/>
            <a:r>
              <a:rPr sz="1800">
                <a:solidFill>
                  <a:srgbClr val="222B38"/>
                </a:solidFill>
                <a:latin typeface="Courier New"/>
              </a:rPr>
              <a:t>n = 100000</a:t>
            </a:r>
          </a:p>
          <a:p>
            <a:pPr algn="l"/>
            <a:r>
              <a:rPr sz="1800">
                <a:solidFill>
                  <a:srgbClr val="222B38"/>
                </a:solidFill>
                <a:latin typeface="Courier New"/>
              </a:rPr>
              <a:t>inventar = random.sample(range(1, 10 * n), n)    # tartiblanmagan, noyob</a:t>
            </a:r>
          </a:p>
          <a:p>
            <a:pPr algn="l"/>
            <a:r>
              <a:rPr sz="1800">
                <a:solidFill>
                  <a:srgbClr val="222B38"/>
                </a:solidFill>
                <a:latin typeface="Courier New"/>
              </a:rPr>
              <a:t>inventar_sort = sorted(inventar)                  # tartiblangan</a:t>
            </a:r>
          </a:p>
          <a:p>
            <a:pPr algn="l"/>
            <a:r>
              <a:rPr sz="1800">
                <a:solidFill>
                  <a:srgbClr val="222B38"/>
                </a:solidFill>
                <a:latin typeface="Courier New"/>
              </a:rPr>
              <a:t>print(len(inventar), inventar[:5], inventar_sort[:5])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34440"/>
            <a:ext cx="12191695" cy="64008"/>
          </a:xfrm>
          <a:prstGeom prst="rect">
            <a:avLst/>
          </a:prstGeom>
          <a:solidFill>
            <a:srgbClr val="E08E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91440"/>
            <a:ext cx="11247120" cy="1051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libri"/>
              </a:rPr>
              <a:t>2. Chiziqli qidirishning variantlarini dasturlash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0" y="6400800"/>
            <a:ext cx="1371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0">
                <a:solidFill>
                  <a:srgbClr val="5B6778"/>
                </a:solidFill>
                <a:latin typeface="Calibri"/>
              </a:rPr>
              <a:t>5 /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00200"/>
            <a:ext cx="1088136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600">
                <a:solidFill>
                  <a:srgbClr val="E08E2B"/>
                </a:solidFill>
                <a:latin typeface="Calibri"/>
              </a:rPr>
              <a:t>■  </a:t>
            </a:r>
            <a:r>
              <a:rPr sz="2400">
                <a:solidFill>
                  <a:srgbClr val="222B38"/>
                </a:solidFill>
                <a:latin typeface="Calibri"/>
              </a:rPr>
              <a:t>Birinchi topshiriq: taqqoslashlar sonini hisoblovchi chiziqli qidirish funksiyasini yozish.</a:t>
            </a:r>
          </a:p>
          <a:p>
            <a:pPr>
              <a:spcAft>
                <a:spcPts val="1400"/>
              </a:spcAft>
            </a:pPr>
            <a:r>
              <a:rPr sz="1600">
                <a:solidFill>
                  <a:srgbClr val="E08E2B"/>
                </a:solidFill>
                <a:latin typeface="Calibri"/>
              </a:rPr>
              <a:t>■  </a:t>
            </a:r>
            <a:r>
              <a:rPr sz="2400">
                <a:solidFill>
                  <a:srgbClr val="222B38"/>
                </a:solidFill>
                <a:latin typeface="Calibri"/>
              </a:rPr>
              <a:t>Bu eng yaxshi, o‘rtacha va eng yomon holatlarning nazariy tahlilini tasdiqlaydi.</a:t>
            </a:r>
          </a:p>
          <a:p>
            <a:pPr>
              <a:spcAft>
                <a:spcPts val="1400"/>
              </a:spcAft>
            </a:pPr>
            <a:r>
              <a:rPr sz="1600">
                <a:solidFill>
                  <a:srgbClr val="E08E2B"/>
                </a:solidFill>
                <a:latin typeface="Calibri"/>
              </a:rPr>
              <a:t>■  </a:t>
            </a:r>
            <a:r>
              <a:rPr sz="2400">
                <a:solidFill>
                  <a:srgbClr val="222B38"/>
                </a:solidFill>
                <a:latin typeface="Calibri"/>
              </a:rPr>
              <a:t>Ikkinchi topshiriq: barcha mos elementlarni topuvchi qidirish.</a:t>
            </a:r>
          </a:p>
          <a:p>
            <a:pPr>
              <a:spcAft>
                <a:spcPts val="1400"/>
              </a:spcAft>
            </a:pPr>
            <a:r>
              <a:rPr sz="1600">
                <a:solidFill>
                  <a:srgbClr val="E08E2B"/>
                </a:solidFill>
                <a:latin typeface="Calibri"/>
              </a:rPr>
              <a:t>■  </a:t>
            </a:r>
            <a:r>
              <a:rPr sz="2400">
                <a:solidFill>
                  <a:srgbClr val="222B38"/>
                </a:solidFill>
                <a:latin typeface="Calibri"/>
              </a:rPr>
              <a:t>Uchinchi topshiriq: soqchi usulida chiziqli qidirish.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34440"/>
            <a:ext cx="12191695" cy="64008"/>
          </a:xfrm>
          <a:prstGeom prst="rect">
            <a:avLst/>
          </a:prstGeom>
          <a:solidFill>
            <a:srgbClr val="E08E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91440"/>
            <a:ext cx="11247120" cy="1051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2. Chiziqli qidirishning variantlarini dasturlash — namuna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0" y="6400800"/>
            <a:ext cx="1371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0">
                <a:solidFill>
                  <a:srgbClr val="5B6778"/>
                </a:solidFill>
                <a:latin typeface="Calibri"/>
              </a:rPr>
              <a:t>6 / 10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600200"/>
            <a:ext cx="10881360" cy="4572000"/>
          </a:xfrm>
          <a:prstGeom prst="rect">
            <a:avLst/>
          </a:prstGeom>
          <a:solidFill>
            <a:srgbClr val="F1F4F8"/>
          </a:solidFill>
          <a:ln>
            <a:solidFill>
              <a:srgbClr val="D0D7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228600" tIns="137160"/>
          <a:lstStyle/>
          <a:p>
            <a:pPr algn="l"/>
            <a:r>
              <a:rPr sz="1600">
                <a:solidFill>
                  <a:srgbClr val="222B38"/>
                </a:solidFill>
                <a:latin typeface="Courier New"/>
              </a:rPr>
              <a:t>def chiziqli(royxat, kalit):</a:t>
            </a:r>
          </a:p>
          <a:p>
            <a:pPr algn="l"/>
            <a:r>
              <a:rPr sz="1600">
                <a:solidFill>
                  <a:srgbClr val="222B38"/>
                </a:solidFill>
                <a:latin typeface="Courier New"/>
              </a:rPr>
              <a:t>    taqqos = 0</a:t>
            </a:r>
          </a:p>
          <a:p>
            <a:pPr algn="l"/>
            <a:r>
              <a:rPr sz="1600">
                <a:solidFill>
                  <a:srgbClr val="222B38"/>
                </a:solidFill>
                <a:latin typeface="Courier New"/>
              </a:rPr>
              <a:t>    for i in range(len(royxat)):</a:t>
            </a:r>
          </a:p>
          <a:p>
            <a:pPr algn="l"/>
            <a:r>
              <a:rPr sz="1600">
                <a:solidFill>
                  <a:srgbClr val="222B38"/>
                </a:solidFill>
                <a:latin typeface="Courier New"/>
              </a:rPr>
              <a:t>        taqqos += 1</a:t>
            </a:r>
          </a:p>
          <a:p>
            <a:pPr algn="l"/>
            <a:r>
              <a:rPr sz="1600">
                <a:solidFill>
                  <a:srgbClr val="222B38"/>
                </a:solidFill>
                <a:latin typeface="Courier New"/>
              </a:rPr>
              <a:t>        if royxat[i] == kalit:</a:t>
            </a:r>
          </a:p>
          <a:p>
            <a:pPr algn="l"/>
            <a:r>
              <a:rPr sz="1600">
                <a:solidFill>
                  <a:srgbClr val="222B38"/>
                </a:solidFill>
                <a:latin typeface="Courier New"/>
              </a:rPr>
              <a:t>            return i, taqqos</a:t>
            </a:r>
          </a:p>
          <a:p>
            <a:pPr algn="l"/>
            <a:r>
              <a:rPr sz="1600">
                <a:solidFill>
                  <a:srgbClr val="222B38"/>
                </a:solidFill>
                <a:latin typeface="Courier New"/>
              </a:rPr>
              <a:t>    return -1, taqqos</a:t>
            </a:r>
          </a:p>
          <a:p>
            <a:pPr algn="l"/>
            <a:r>
              <a:rPr sz="1600">
                <a:solidFill>
                  <a:srgbClr val="222B38"/>
                </a:solidFill>
                <a:latin typeface="Courier New"/>
              </a:rPr>
              <a:t> </a:t>
            </a:r>
          </a:p>
          <a:p>
            <a:pPr algn="l"/>
            <a:r>
              <a:rPr sz="1600">
                <a:solidFill>
                  <a:srgbClr val="222B38"/>
                </a:solidFill>
                <a:latin typeface="Courier New"/>
              </a:rPr>
              <a:t>boshi = inventar[0]</a:t>
            </a:r>
          </a:p>
          <a:p>
            <a:pPr algn="l"/>
            <a:r>
              <a:rPr sz="1600">
                <a:solidFill>
                  <a:srgbClr val="222B38"/>
                </a:solidFill>
                <a:latin typeface="Courier New"/>
              </a:rPr>
              <a:t>orta = inventar[len(inventar) // 2]</a:t>
            </a:r>
          </a:p>
          <a:p>
            <a:pPr algn="l"/>
            <a:r>
              <a:rPr sz="1600">
                <a:solidFill>
                  <a:srgbClr val="222B38"/>
                </a:solidFill>
                <a:latin typeface="Courier New"/>
              </a:rPr>
              <a:t>oxiri = inventar[-1]</a:t>
            </a:r>
          </a:p>
          <a:p>
            <a:pPr algn="l"/>
            <a:r>
              <a:rPr sz="1600">
                <a:solidFill>
                  <a:srgbClr val="222B38"/>
                </a:solidFill>
                <a:latin typeface="Courier New"/>
              </a:rPr>
              <a:t>for k in (boshi, orta, oxiri, -5):</a:t>
            </a:r>
          </a:p>
          <a:p>
            <a:pPr algn="l"/>
            <a:r>
              <a:rPr sz="1600">
                <a:solidFill>
                  <a:srgbClr val="222B38"/>
                </a:solidFill>
                <a:latin typeface="Courier New"/>
              </a:rPr>
              <a:t>    print(k, chiziqli(inventar, k))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34440"/>
            <a:ext cx="12191695" cy="64008"/>
          </a:xfrm>
          <a:prstGeom prst="rect">
            <a:avLst/>
          </a:prstGeom>
          <a:solidFill>
            <a:srgbClr val="E08E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91440"/>
            <a:ext cx="11247120" cy="1051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libri"/>
              </a:rPr>
              <a:t>3. Binar qidirish va uning variantlarini dasturlash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0" y="6400800"/>
            <a:ext cx="1371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0">
                <a:solidFill>
                  <a:srgbClr val="5B6778"/>
                </a:solidFill>
                <a:latin typeface="Calibri"/>
              </a:rPr>
              <a:t>7 /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00200"/>
            <a:ext cx="1088136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600">
                <a:solidFill>
                  <a:srgbClr val="E08E2B"/>
                </a:solidFill>
                <a:latin typeface="Calibri"/>
              </a:rPr>
              <a:t>■  </a:t>
            </a:r>
            <a:r>
              <a:rPr sz="2400">
                <a:solidFill>
                  <a:srgbClr val="222B38"/>
                </a:solidFill>
                <a:latin typeface="Calibri"/>
              </a:rPr>
              <a:t>Binar qidirishni dasturlashdan oldin talabalar uning ishini qo‘lda ko‘rib chiqadilar.</a:t>
            </a:r>
          </a:p>
          <a:p>
            <a:pPr>
              <a:spcAft>
                <a:spcPts val="1400"/>
              </a:spcAft>
            </a:pPr>
            <a:r>
              <a:rPr sz="1600">
                <a:solidFill>
                  <a:srgbClr val="E08E2B"/>
                </a:solidFill>
                <a:latin typeface="Calibri"/>
              </a:rPr>
              <a:t>■  </a:t>
            </a:r>
            <a:r>
              <a:rPr sz="2400">
                <a:solidFill>
                  <a:srgbClr val="222B38"/>
                </a:solidFill>
                <a:latin typeface="Calibri"/>
              </a:rPr>
              <a:t>Birinchi topshiriq: binar qidirish funksiyasini taqqoslashlar sonini hisoblab yozish.</a:t>
            </a:r>
          </a:p>
          <a:p>
            <a:pPr>
              <a:spcAft>
                <a:spcPts val="1400"/>
              </a:spcAft>
            </a:pPr>
            <a:r>
              <a:rPr sz="1600">
                <a:solidFill>
                  <a:srgbClr val="E08E2B"/>
                </a:solidFill>
                <a:latin typeface="Calibri"/>
              </a:rPr>
              <a:t>■  </a:t>
            </a:r>
            <a:r>
              <a:rPr sz="2400">
                <a:solidFill>
                  <a:srgbClr val="222B38"/>
                </a:solidFill>
                <a:latin typeface="Calibri"/>
              </a:rPr>
              <a:t>Ikkinchi topshiriq: binar qidirishning rekursiv variantini yozish.</a:t>
            </a:r>
          </a:p>
          <a:p>
            <a:pPr>
              <a:spcAft>
                <a:spcPts val="1400"/>
              </a:spcAft>
            </a:pPr>
            <a:r>
              <a:rPr sz="1600">
                <a:solidFill>
                  <a:srgbClr val="E08E2B"/>
                </a:solidFill>
                <a:latin typeface="Calibri"/>
              </a:rPr>
              <a:t>■  </a:t>
            </a:r>
            <a:r>
              <a:rPr sz="2400">
                <a:solidFill>
                  <a:srgbClr val="222B38"/>
                </a:solidFill>
                <a:latin typeface="Calibri"/>
              </a:rPr>
              <a:t>Uchinchi topshiriq: kalit birinchi marta uchragan o‘rinni topish.</a:t>
            </a:r>
          </a:p>
          <a:p>
            <a:pPr>
              <a:spcAft>
                <a:spcPts val="1400"/>
              </a:spcAft>
            </a:pPr>
            <a:r>
              <a:rPr sz="1600">
                <a:solidFill>
                  <a:srgbClr val="E08E2B"/>
                </a:solidFill>
                <a:latin typeface="Calibri"/>
              </a:rPr>
              <a:t>■  </a:t>
            </a:r>
            <a:r>
              <a:rPr sz="2400">
                <a:solidFill>
                  <a:srgbClr val="222B38"/>
                </a:solidFill>
                <a:latin typeface="Calibri"/>
              </a:rPr>
              <a:t>To‘rtinchi topshiriq: Python tilining bisect modulidan foydalanish.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34440"/>
            <a:ext cx="12191695" cy="64008"/>
          </a:xfrm>
          <a:prstGeom prst="rect">
            <a:avLst/>
          </a:prstGeom>
          <a:solidFill>
            <a:srgbClr val="E08E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91440"/>
            <a:ext cx="11247120" cy="1051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3. Binar qidirish va uning variantlarini dasturlash — namuna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0" y="6400800"/>
            <a:ext cx="1371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0">
                <a:solidFill>
                  <a:srgbClr val="5B6778"/>
                </a:solidFill>
                <a:latin typeface="Calibri"/>
              </a:rPr>
              <a:t>8 / 10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600200"/>
            <a:ext cx="10881360" cy="4572000"/>
          </a:xfrm>
          <a:prstGeom prst="rect">
            <a:avLst/>
          </a:prstGeom>
          <a:solidFill>
            <a:srgbClr val="F1F4F8"/>
          </a:solidFill>
          <a:ln>
            <a:solidFill>
              <a:srgbClr val="D0D7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228600" tIns="137160"/>
          <a:lstStyle/>
          <a:p>
            <a:pPr algn="l"/>
            <a:r>
              <a:rPr sz="1400">
                <a:solidFill>
                  <a:srgbClr val="222B38"/>
                </a:solidFill>
                <a:latin typeface="Courier New"/>
              </a:rPr>
              <a:t>def binar(royxat, kalit):</a:t>
            </a:r>
          </a:p>
          <a:p>
            <a:pPr algn="l"/>
            <a:r>
              <a:rPr sz="1400">
                <a:solidFill>
                  <a:srgbClr val="222B38"/>
                </a:solidFill>
                <a:latin typeface="Courier New"/>
              </a:rPr>
              <a:t>    chap, ong = 0, len(royxat) - 1</a:t>
            </a:r>
          </a:p>
          <a:p>
            <a:pPr algn="l"/>
            <a:r>
              <a:rPr sz="1400">
                <a:solidFill>
                  <a:srgbClr val="222B38"/>
                </a:solidFill>
                <a:latin typeface="Courier New"/>
              </a:rPr>
              <a:t>    taqqos = 0</a:t>
            </a:r>
          </a:p>
          <a:p>
            <a:pPr algn="l"/>
            <a:r>
              <a:rPr sz="1400">
                <a:solidFill>
                  <a:srgbClr val="222B38"/>
                </a:solidFill>
                <a:latin typeface="Courier New"/>
              </a:rPr>
              <a:t>    while chap &lt;= ong:</a:t>
            </a:r>
          </a:p>
          <a:p>
            <a:pPr algn="l"/>
            <a:r>
              <a:rPr sz="1400">
                <a:solidFill>
                  <a:srgbClr val="222B38"/>
                </a:solidFill>
                <a:latin typeface="Courier New"/>
              </a:rPr>
              <a:t>        orta = (chap + ong) // 2</a:t>
            </a:r>
          </a:p>
          <a:p>
            <a:pPr algn="l"/>
            <a:r>
              <a:rPr sz="1400">
                <a:solidFill>
                  <a:srgbClr val="222B38"/>
                </a:solidFill>
                <a:latin typeface="Courier New"/>
              </a:rPr>
              <a:t>        taqqos += 1</a:t>
            </a:r>
          </a:p>
          <a:p>
            <a:pPr algn="l"/>
            <a:r>
              <a:rPr sz="1400">
                <a:solidFill>
                  <a:srgbClr val="222B38"/>
                </a:solidFill>
                <a:latin typeface="Courier New"/>
              </a:rPr>
              <a:t>        if royxat[orta] == kalit:</a:t>
            </a:r>
          </a:p>
          <a:p>
            <a:pPr algn="l"/>
            <a:r>
              <a:rPr sz="1400">
                <a:solidFill>
                  <a:srgbClr val="222B38"/>
                </a:solidFill>
                <a:latin typeface="Courier New"/>
              </a:rPr>
              <a:t>            return orta, taqqos</a:t>
            </a:r>
          </a:p>
          <a:p>
            <a:pPr algn="l"/>
            <a:r>
              <a:rPr sz="1400">
                <a:solidFill>
                  <a:srgbClr val="222B38"/>
                </a:solidFill>
                <a:latin typeface="Courier New"/>
              </a:rPr>
              <a:t>        elif royxat[orta] &lt; kalit:</a:t>
            </a:r>
          </a:p>
          <a:p>
            <a:pPr algn="l"/>
            <a:r>
              <a:rPr sz="1400">
                <a:solidFill>
                  <a:srgbClr val="222B38"/>
                </a:solidFill>
                <a:latin typeface="Courier New"/>
              </a:rPr>
              <a:t>            chap = orta + 1</a:t>
            </a:r>
          </a:p>
          <a:p>
            <a:pPr algn="l"/>
            <a:r>
              <a:rPr sz="1400">
                <a:solidFill>
                  <a:srgbClr val="222B38"/>
                </a:solidFill>
                <a:latin typeface="Courier New"/>
              </a:rPr>
              <a:t>        else:</a:t>
            </a:r>
          </a:p>
          <a:p>
            <a:pPr algn="l"/>
            <a:r>
              <a:rPr sz="1400">
                <a:solidFill>
                  <a:srgbClr val="222B38"/>
                </a:solidFill>
                <a:latin typeface="Courier New"/>
              </a:rPr>
              <a:t>            ong = orta - 1</a:t>
            </a:r>
          </a:p>
          <a:p>
            <a:pPr algn="l"/>
            <a:r>
              <a:rPr sz="1400">
                <a:solidFill>
                  <a:srgbClr val="222B38"/>
                </a:solidFill>
                <a:latin typeface="Courier New"/>
              </a:rPr>
              <a:t>    return -1, taqqos</a:t>
            </a:r>
          </a:p>
          <a:p>
            <a:pPr algn="l"/>
            <a:r>
              <a:rPr sz="1400">
                <a:solidFill>
                  <a:srgbClr val="222B38"/>
                </a:solidFill>
                <a:latin typeface="Courier New"/>
              </a:rPr>
              <a:t> </a:t>
            </a:r>
          </a:p>
          <a:p>
            <a:pPr algn="l"/>
            <a:r>
              <a:rPr sz="1400">
                <a:solidFill>
                  <a:srgbClr val="222B38"/>
                </a:solidFill>
                <a:latin typeface="Courier New"/>
              </a:rPr>
              <a:t>for k in (inventar_sort[0], inventar_sort[50000], inventar_sort[-1], -5):</a:t>
            </a:r>
          </a:p>
          <a:p>
            <a:pPr algn="l"/>
            <a:r>
              <a:rPr sz="1400">
                <a:solidFill>
                  <a:srgbClr val="222B38"/>
                </a:solidFill>
                <a:latin typeface="Courier New"/>
              </a:rPr>
              <a:t>    print(k, binar(inventar_sort, k))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34440"/>
            <a:ext cx="12191695" cy="64008"/>
          </a:xfrm>
          <a:prstGeom prst="rect">
            <a:avLst/>
          </a:prstGeom>
          <a:solidFill>
            <a:srgbClr val="E08E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91440"/>
            <a:ext cx="11247120" cy="1051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4. Qidirish algoritmlarini taqqoslash tajribasi va kutubxona katalogida qo‘llash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0" y="6400800"/>
            <a:ext cx="1371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0">
                <a:solidFill>
                  <a:srgbClr val="5B6778"/>
                </a:solidFill>
                <a:latin typeface="Calibri"/>
              </a:rPr>
              <a:t>9 /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00200"/>
            <a:ext cx="1088136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400">
                <a:solidFill>
                  <a:srgbClr val="E08E2B"/>
                </a:solidFill>
                <a:latin typeface="Calibri"/>
              </a:rPr>
              <a:t>■  </a:t>
            </a:r>
            <a:r>
              <a:rPr sz="2200">
                <a:solidFill>
                  <a:srgbClr val="222B38"/>
                </a:solidFill>
                <a:latin typeface="Calibri"/>
              </a:rPr>
              <a:t>Mashg‘ulotning to‘rtinchi bosqichida chiziqli va binar qidirishning tezligi tajribada taqqoslanadi.</a:t>
            </a:r>
          </a:p>
          <a:p>
            <a:pPr>
              <a:spcAft>
                <a:spcPts val="1400"/>
              </a:spcAft>
            </a:pPr>
            <a:r>
              <a:rPr sz="1400">
                <a:solidFill>
                  <a:srgbClr val="E08E2B"/>
                </a:solidFill>
                <a:latin typeface="Calibri"/>
              </a:rPr>
              <a:t>■  </a:t>
            </a:r>
            <a:r>
              <a:rPr sz="2200">
                <a:solidFill>
                  <a:srgbClr val="222B38"/>
                </a:solidFill>
                <a:latin typeface="Calibri"/>
              </a:rPr>
              <a:t>Tajriba natijalarini tahlil qilishda talabalar quyidagi savollarga javob beradilar.</a:t>
            </a:r>
          </a:p>
          <a:p>
            <a:pPr>
              <a:spcAft>
                <a:spcPts val="1400"/>
              </a:spcAft>
            </a:pPr>
            <a:r>
              <a:rPr sz="1400">
                <a:solidFill>
                  <a:srgbClr val="E08E2B"/>
                </a:solidFill>
                <a:latin typeface="Calibri"/>
              </a:rPr>
              <a:t>■  </a:t>
            </a:r>
            <a:r>
              <a:rPr sz="2200">
                <a:solidFill>
                  <a:srgbClr val="222B38"/>
                </a:solidFill>
                <a:latin typeface="Calibri"/>
              </a:rPr>
              <a:t>Qidirish algoritmlarini o‘rganish natijasida talaba katalog va ma’lumotlar bazasida qidiruv qanday tashkil etilishini tushunadi.</a:t>
            </a:r>
          </a:p>
          <a:p>
            <a:pPr>
              <a:spcAft>
                <a:spcPts val="1400"/>
              </a:spcAft>
            </a:pPr>
            <a:r>
              <a:rPr sz="1400">
                <a:solidFill>
                  <a:srgbClr val="E08E2B"/>
                </a:solidFill>
                <a:latin typeface="Calibri"/>
              </a:rPr>
              <a:t>■  </a:t>
            </a:r>
            <a:r>
              <a:rPr sz="2200">
                <a:solidFill>
                  <a:srgbClr val="222B38"/>
                </a:solidFill>
                <a:latin typeface="Calibri"/>
              </a:rPr>
              <a:t>Mashg‘ulot yakunida talabalar o‘z ishlarini o‘zaro almashib tekshiradilar va hamkasbining kodiga kamida ikkita tavsiya yozadilar.</a:t>
            </a:r>
          </a:p>
          <a:p>
            <a:pPr>
              <a:spcAft>
                <a:spcPts val="1400"/>
              </a:spcAft>
            </a:pPr>
            <a:r>
              <a:rPr sz="1400">
                <a:solidFill>
                  <a:srgbClr val="E08E2B"/>
                </a:solidFill>
                <a:latin typeface="Calibri"/>
              </a:rPr>
              <a:t>■  </a:t>
            </a:r>
            <a:r>
              <a:rPr sz="2200">
                <a:solidFill>
                  <a:srgbClr val="222B38"/>
                </a:solidFill>
                <a:latin typeface="Calibri"/>
              </a:rPr>
              <a:t>Mavzu bo‘yicha yakuniy fikr: qidirish algoritmini tanlash ma’lumotlarning tartiblanganligi, hajmi va o‘zgarish chastotasiga bog‘liq.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34440"/>
            <a:ext cx="12191695" cy="64008"/>
          </a:xfrm>
          <a:prstGeom prst="rect">
            <a:avLst/>
          </a:prstGeom>
          <a:solidFill>
            <a:srgbClr val="E08E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91440"/>
            <a:ext cx="11247120" cy="1051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libri"/>
              </a:rPr>
              <a:t>Xulosa va nazorat savollari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0" y="6400800"/>
            <a:ext cx="1371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0">
                <a:solidFill>
                  <a:srgbClr val="5B6778"/>
                </a:solidFill>
                <a:latin typeface="Calibri"/>
              </a:rPr>
              <a:t>10 /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00200"/>
            <a:ext cx="1088136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400">
                <a:solidFill>
                  <a:srgbClr val="E08E2B"/>
                </a:solidFill>
                <a:latin typeface="Calibri"/>
              </a:rPr>
              <a:t>■  </a:t>
            </a:r>
            <a:r>
              <a:rPr sz="2200">
                <a:solidFill>
                  <a:srgbClr val="222B38"/>
                </a:solidFill>
                <a:latin typeface="Calibri"/>
              </a:rPr>
              <a:t>Taqqoslashlar sonini hisoblash nima uchun real vaqtni o‘lchashdan afzal?</a:t>
            </a:r>
          </a:p>
          <a:p>
            <a:pPr>
              <a:spcAft>
                <a:spcPts val="1400"/>
              </a:spcAft>
            </a:pPr>
            <a:r>
              <a:rPr sz="1400">
                <a:solidFill>
                  <a:srgbClr val="E08E2B"/>
                </a:solidFill>
                <a:latin typeface="Calibri"/>
              </a:rPr>
              <a:t>■  </a:t>
            </a:r>
            <a:r>
              <a:rPr sz="2200">
                <a:solidFill>
                  <a:srgbClr val="222B38"/>
                </a:solidFill>
                <a:latin typeface="Calibri"/>
              </a:rPr>
              <a:t>Soqchi usuli chiziqli qidirishni qanday tezlashtiradi?</a:t>
            </a:r>
          </a:p>
          <a:p>
            <a:pPr>
              <a:spcAft>
                <a:spcPts val="1400"/>
              </a:spcAft>
            </a:pPr>
            <a:r>
              <a:rPr sz="1400">
                <a:solidFill>
                  <a:srgbClr val="E08E2B"/>
                </a:solidFill>
                <a:latin typeface="Calibri"/>
              </a:rPr>
              <a:t>■  </a:t>
            </a:r>
            <a:r>
              <a:rPr sz="2200">
                <a:solidFill>
                  <a:srgbClr val="222B38"/>
                </a:solidFill>
                <a:latin typeface="Calibri"/>
              </a:rPr>
              <a:t>Binar qidirishda sikl shartida nima uchun chap &lt;= o‘ng yoziladi?</a:t>
            </a:r>
          </a:p>
          <a:p>
            <a:pPr>
              <a:spcAft>
                <a:spcPts val="1400"/>
              </a:spcAft>
            </a:pPr>
            <a:r>
              <a:rPr sz="1400">
                <a:solidFill>
                  <a:srgbClr val="E08E2B"/>
                </a:solidFill>
                <a:latin typeface="Calibri"/>
              </a:rPr>
              <a:t>■  </a:t>
            </a:r>
            <a:r>
              <a:rPr sz="2200">
                <a:solidFill>
                  <a:srgbClr val="222B38"/>
                </a:solidFill>
                <a:latin typeface="Calibri"/>
              </a:rPr>
              <a:t>Takrorlanuvchi elementlar orasidan birinchisini topish uchun binar qidirish qanday o‘zgartiriladi?</a:t>
            </a:r>
          </a:p>
          <a:p>
            <a:pPr>
              <a:spcAft>
                <a:spcPts val="1400"/>
              </a:spcAft>
            </a:pPr>
            <a:r>
              <a:rPr sz="1400">
                <a:solidFill>
                  <a:srgbClr val="E08E2B"/>
                </a:solidFill>
                <a:latin typeface="Calibri"/>
              </a:rPr>
              <a:t>■  </a:t>
            </a:r>
            <a:r>
              <a:rPr sz="2200">
                <a:solidFill>
                  <a:srgbClr val="222B38"/>
                </a:solidFill>
                <a:latin typeface="Calibri"/>
              </a:rPr>
              <a:t>Muallif bo‘yicha tartiblangan katalogda uning barcha kitoblari qanday topiladi?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